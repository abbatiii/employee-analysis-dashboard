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Employee_Performance%20Assign%202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Employee_Performance%20Assign%202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Employee_Performance%20Assign%202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Table!PivotTable9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Performance</a:t>
            </a:r>
            <a:r>
              <a:rPr lang="en-US" baseline="0"/>
              <a:t>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Table'!$B$14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Table'!$A$15:$A$23</c:f>
              <c:strCache>
                <c:ptCount val="8"/>
                <c:pt idx="0">
                  <c:v>Department</c:v>
                </c:pt>
                <c:pt idx="1">
                  <c:v>HR </c:v>
                </c:pt>
                <c:pt idx="2">
                  <c:v>Operations</c:v>
                </c:pt>
                <c:pt idx="3">
                  <c:v>Operations </c:v>
                </c:pt>
                <c:pt idx="4">
                  <c:v>N/A</c:v>
                </c:pt>
                <c:pt idx="5">
                  <c:v>HR</c:v>
                </c:pt>
                <c:pt idx="6">
                  <c:v>Finance</c:v>
                </c:pt>
                <c:pt idx="7">
                  <c:v>IT</c:v>
                </c:pt>
              </c:strCache>
            </c:strRef>
          </c:cat>
          <c:val>
            <c:numRef>
              <c:f>'Pivot Table'!$B$15:$B$23</c:f>
              <c:numCache>
                <c:formatCode>General</c:formatCode>
                <c:ptCount val="8"/>
                <c:pt idx="0">
                  <c:v>1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11</c:v>
                </c:pt>
                <c:pt idx="6">
                  <c:v>20</c:v>
                </c:pt>
                <c:pt idx="7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33-479F-9D5E-DE799316D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651024"/>
        <c:axId val="174630384"/>
      </c:barChart>
      <c:catAx>
        <c:axId val="174651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74630384"/>
        <c:crosses val="autoZero"/>
        <c:auto val="1"/>
        <c:lblAlgn val="ctr"/>
        <c:lblOffset val="100"/>
        <c:noMultiLvlLbl val="0"/>
      </c:catAx>
      <c:valAx>
        <c:axId val="174630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74651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Table!PivotTable10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Work</a:t>
            </a:r>
            <a:r>
              <a:rPr lang="en-US" baseline="0"/>
              <a:t> location chart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Table'!$B$28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Table'!$A$29:$A$33</c:f>
              <c:strCache>
                <c:ptCount val="4"/>
                <c:pt idx="0">
                  <c:v>Work_Location</c:v>
                </c:pt>
                <c:pt idx="1">
                  <c:v>Remote </c:v>
                </c:pt>
                <c:pt idx="2">
                  <c:v>Abuja </c:v>
                </c:pt>
                <c:pt idx="3">
                  <c:v>Lagos</c:v>
                </c:pt>
              </c:strCache>
            </c:strRef>
          </c:cat>
          <c:val>
            <c:numRef>
              <c:f>'Pivot Table'!$B$29:$B$33</c:f>
              <c:numCache>
                <c:formatCode>General</c:formatCode>
                <c:ptCount val="4"/>
                <c:pt idx="0">
                  <c:v>1</c:v>
                </c:pt>
                <c:pt idx="1">
                  <c:v>13</c:v>
                </c:pt>
                <c:pt idx="2">
                  <c:v>14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37-492F-B439-729A045597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42515504"/>
        <c:axId val="242485744"/>
      </c:barChart>
      <c:catAx>
        <c:axId val="2425155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42485744"/>
        <c:crosses val="autoZero"/>
        <c:auto val="1"/>
        <c:lblAlgn val="ctr"/>
        <c:lblOffset val="100"/>
        <c:noMultiLvlLbl val="0"/>
      </c:catAx>
      <c:valAx>
        <c:axId val="242485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4251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Table!PivotTable11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Highest</a:t>
            </a:r>
            <a:r>
              <a:rPr lang="en-US" baseline="0"/>
              <a:t> paying chart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'Pivot Table'!$B$38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E5F-4DDB-B1F8-F27F56B3C50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E5F-4DDB-B1F8-F27F56B3C50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7E5F-4DDB-B1F8-F27F56B3C50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7E5F-4DDB-B1F8-F27F56B3C50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7E5F-4DDB-B1F8-F27F56B3C50F}"/>
              </c:ext>
            </c:extLst>
          </c:dPt>
          <c:cat>
            <c:strRef>
              <c:f>'Pivot Table'!$A$39:$A$44</c:f>
              <c:strCache>
                <c:ptCount val="5"/>
                <c:pt idx="0">
                  <c:v>Job_Level</c:v>
                </c:pt>
                <c:pt idx="1">
                  <c:v>Junior </c:v>
                </c:pt>
                <c:pt idx="2">
                  <c:v>Junior</c:v>
                </c:pt>
                <c:pt idx="3">
                  <c:v>Mid-level</c:v>
                </c:pt>
                <c:pt idx="4">
                  <c:v>Senior</c:v>
                </c:pt>
              </c:strCache>
            </c:strRef>
          </c:cat>
          <c:val>
            <c:numRef>
              <c:f>'Pivot Table'!$B$39:$B$44</c:f>
              <c:numCache>
                <c:formatCode>General</c:formatCode>
                <c:ptCount val="5"/>
                <c:pt idx="0">
                  <c:v>1</c:v>
                </c:pt>
                <c:pt idx="1">
                  <c:v>16</c:v>
                </c:pt>
                <c:pt idx="2">
                  <c:v>17</c:v>
                </c:pt>
                <c:pt idx="3">
                  <c:v>25</c:v>
                </c:pt>
                <c:pt idx="4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E5F-4DDB-B1F8-F27F56B3C5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88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9010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4043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2648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0706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0799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0556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6518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2115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6542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60928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5604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90832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2882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32802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16126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4824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03FC590-9FA7-48DE-8355-5E91D90BB23C}" type="datetimeFigureOut">
              <a:rPr lang="en-NG" smtClean="0"/>
              <a:t>12/04/2026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3B2DE-DD23-44FF-9709-7B620D4040B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17486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CC19-F440-DE1A-4090-CFA59F634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564"/>
            <a:ext cx="9144000" cy="2137025"/>
          </a:xfrm>
        </p:spPr>
        <p:txBody>
          <a:bodyPr/>
          <a:lstStyle/>
          <a:p>
            <a:r>
              <a:rPr lang="en-US" dirty="0"/>
              <a:t>DEP 202 DATA ANALYSIS </a:t>
            </a:r>
            <a:br>
              <a:rPr lang="en-US" dirty="0"/>
            </a:br>
            <a:r>
              <a:rPr lang="en-US" dirty="0"/>
              <a:t>COSMOPOLITAN UNIVERSITY</a:t>
            </a: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D2BD9-1119-7BB6-353F-95AE8939F7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ANALYSIS ASSIGNMENT ON EMPLOYEE PERFORMANCE DASHBOARD USING EXCEL DONE BY ME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045671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AF6B-B74B-31F6-608D-97EBF02B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QUESTIONS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5CA34-3F1A-A31D-47CF-2100C02FB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1️ What is the highest Monthly Salary in the dataset?</a:t>
            </a:r>
            <a:endParaRPr lang="en-NG" b="1" dirty="0"/>
          </a:p>
          <a:p>
            <a:r>
              <a:rPr lang="en-US" b="1" dirty="0"/>
              <a:t>2️ What is the lowest Monthly Salary recorded in the dataset?</a:t>
            </a:r>
            <a:endParaRPr lang="en-NG" b="1" dirty="0"/>
          </a:p>
          <a:p>
            <a:r>
              <a:rPr lang="en-US" b="1" dirty="0"/>
              <a:t>3️ Which Department has the highest total Performance Score?</a:t>
            </a:r>
            <a:endParaRPr lang="en-NG" b="1" dirty="0"/>
          </a:p>
          <a:p>
            <a:r>
              <a:rPr lang="en-US" b="1" dirty="0"/>
              <a:t>4️ How many employees work in each Work Location (Abuja, Lagos, Remote)?</a:t>
            </a:r>
            <a:endParaRPr lang="en-NG" b="1" dirty="0"/>
          </a:p>
          <a:p>
            <a:r>
              <a:rPr lang="en-US" b="1" dirty="0"/>
              <a:t>5️ Which Job Level (Junior, Mid-Level, Senior) has the highest total salary paid?</a:t>
            </a:r>
            <a:endParaRPr lang="en-NG" b="1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81349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0FFB-68E3-7EA0-7E72-EC38896CE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What is the highest Monthly Salary in the dataset?</a:t>
            </a:r>
            <a:br>
              <a:rPr lang="en-NG" b="1" dirty="0"/>
            </a:b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40003-06B1-2984-B6FE-CE8A4BB1C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highest monthly salary in the data set is </a:t>
            </a:r>
          </a:p>
          <a:p>
            <a:pPr marL="0" indent="0" algn="ctr">
              <a:buNone/>
            </a:pPr>
            <a:r>
              <a:rPr lang="en-US" dirty="0"/>
              <a:t>838877.7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64884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90DC-E2C7-006D-ED3D-B0450288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lowest Monthly Salary recorded in the dataset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60B34-BEC6-F4E8-B3C0-E3D27FD88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lowest monthly salary in the dataset is</a:t>
            </a:r>
          </a:p>
          <a:p>
            <a:pPr marL="0" indent="0" algn="ctr">
              <a:buNone/>
            </a:pPr>
            <a:r>
              <a:rPr lang="en-US" dirty="0"/>
              <a:t>0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76965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49C6-1680-077E-C069-2EFBF562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Which Department has the highest total Performance Score?</a:t>
            </a:r>
            <a:endParaRPr lang="en-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B20412-3B31-E0B5-378C-CCD8F52A7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991048"/>
              </p:ext>
            </p:extLst>
          </p:nvPr>
        </p:nvGraphicFramePr>
        <p:xfrm>
          <a:off x="3595955" y="1825624"/>
          <a:ext cx="7674796" cy="4554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545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E48D-2512-BAF4-EBF3-969379DD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many employees work in each Work Location (Abuja, Lagos, Remote)?</a:t>
            </a:r>
            <a:endParaRPr lang="en-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D2E4FB-1782-68DC-8D69-03A351561E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1729203"/>
              </p:ext>
            </p:extLst>
          </p:nvPr>
        </p:nvGraphicFramePr>
        <p:xfrm>
          <a:off x="838200" y="1825625"/>
          <a:ext cx="8870879" cy="466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5888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0F19-DCF2-F612-2FE7-BB23C0B6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Which Job Level (Junior, Mid-Level, Senior) has the highest total salary paid</a:t>
            </a:r>
            <a:endParaRPr lang="en-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21FE7A-3526-993C-546D-0CAA46FA1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303577"/>
              </p:ext>
            </p:extLst>
          </p:nvPr>
        </p:nvGraphicFramePr>
        <p:xfrm>
          <a:off x="1623316" y="1825625"/>
          <a:ext cx="8928243" cy="4801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43149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175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DEP 202 DATA ANALYSIS  COSMOPOLITAN UNIVERSITY</vt:lpstr>
      <vt:lpstr>QUESTIONS</vt:lpstr>
      <vt:lpstr>What is the highest Monthly Salary in the dataset? </vt:lpstr>
      <vt:lpstr>What is the lowest Monthly Salary recorded in the dataset</vt:lpstr>
      <vt:lpstr>Which Department has the highest total Performance Score?</vt:lpstr>
      <vt:lpstr>How many employees work in each Work Location (Abuja, Lagos, Remote)?</vt:lpstr>
      <vt:lpstr>Which Job Level (Junior, Mid-Level, Senior) has the highest total salary paid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Aliyu Isah</dc:creator>
  <cp:lastModifiedBy>Aliyu Isah</cp:lastModifiedBy>
  <cp:revision>1</cp:revision>
  <dcterms:created xsi:type="dcterms:W3CDTF">2026-04-12T22:09:20Z</dcterms:created>
  <dcterms:modified xsi:type="dcterms:W3CDTF">2026-04-12T22:12:33Z</dcterms:modified>
</cp:coreProperties>
</file>